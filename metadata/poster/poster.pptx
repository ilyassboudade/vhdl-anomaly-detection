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2918400" cy="43891200"/>
  <p:notesSz cx="9271000" cy="7010400"/>
  <p:embeddedFontLst>
    <p:embeddedFont>
      <p:font typeface="Cambria Math" panose="02040503050406030204" pitchFamily="18" charset="0"/>
      <p:regular r:id="rId4"/>
    </p:embeddedFont>
    <p:embeddedFont>
      <p:font typeface="Comfortaa Light" panose="020B0604020202020204" charset="0"/>
      <p:regular r:id="rId5"/>
      <p:bold r:id="rId6"/>
    </p:embeddedFont>
    <p:embeddedFont>
      <p:font typeface="Nunito" panose="020F0502020204030204" pitchFamily="2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756" userDrawn="1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DD3F3C-2658-07F1-1CB6-B9C733309A1C}" name="PC" initials="P" userId="PC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C39A"/>
    <a:srgbClr val="7C3AED"/>
    <a:srgbClr val="DC2626"/>
    <a:srgbClr val="023E8A"/>
    <a:srgbClr val="AFCCDC"/>
    <a:srgbClr val="0072B2"/>
    <a:srgbClr val="D75E00"/>
    <a:srgbClr val="03045E"/>
    <a:srgbClr val="0096C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55" autoAdjust="0"/>
    <p:restoredTop sz="96238" autoAdjust="0"/>
  </p:normalViewPr>
  <p:slideViewPr>
    <p:cSldViewPr snapToGrid="0">
      <p:cViewPr varScale="1">
        <p:scale>
          <a:sx n="17" d="100"/>
          <a:sy n="17" d="100"/>
        </p:scale>
        <p:origin x="2730" y="78"/>
      </p:cViewPr>
      <p:guideLst>
        <p:guide orient="horz" pos="13756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5" Type="http://schemas.microsoft.com/office/2018/10/relationships/authors" Target="author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6441910038297108E-2"/>
          <c:y val="1.0810444799552878E-2"/>
          <c:w val="0.93355808619716929"/>
          <c:h val="0.926328369810347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ln w="22225" cap="rnd" cmpd="sng" algn="ctr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  <c:pt idx="5">
                  <c:v>E6</c:v>
                </c:pt>
                <c:pt idx="6">
                  <c:v>E7</c:v>
                </c:pt>
                <c:pt idx="7">
                  <c:v>E8</c:v>
                </c:pt>
                <c:pt idx="8">
                  <c:v>E9</c:v>
                </c:pt>
                <c:pt idx="9">
                  <c:v>E10</c:v>
                </c:pt>
                <c:pt idx="10">
                  <c:v>E11</c:v>
                </c:pt>
                <c:pt idx="11">
                  <c:v>E12</c:v>
                </c:pt>
                <c:pt idx="12">
                  <c:v>E13</c:v>
                </c:pt>
                <c:pt idx="13">
                  <c:v>E14</c:v>
                </c:pt>
                <c:pt idx="14">
                  <c:v>E15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0.38129999999999997</c:v>
                </c:pt>
                <c:pt idx="1">
                  <c:v>0.42330000000000001</c:v>
                </c:pt>
                <c:pt idx="2">
                  <c:v>0.4607</c:v>
                </c:pt>
                <c:pt idx="3">
                  <c:v>0.52159999999999995</c:v>
                </c:pt>
                <c:pt idx="4">
                  <c:v>0.59079999999999999</c:v>
                </c:pt>
                <c:pt idx="5">
                  <c:v>0.68989999999999996</c:v>
                </c:pt>
                <c:pt idx="6">
                  <c:v>0.72089999999999999</c:v>
                </c:pt>
                <c:pt idx="7">
                  <c:v>0.73770000000000002</c:v>
                </c:pt>
                <c:pt idx="8">
                  <c:v>0.76719999999999999</c:v>
                </c:pt>
                <c:pt idx="9">
                  <c:v>0.76470000000000005</c:v>
                </c:pt>
                <c:pt idx="10">
                  <c:v>0.76329999999999998</c:v>
                </c:pt>
                <c:pt idx="11">
                  <c:v>0.77359999999999995</c:v>
                </c:pt>
                <c:pt idx="12">
                  <c:v>0.76429999999999998</c:v>
                </c:pt>
                <c:pt idx="13">
                  <c:v>0.7853</c:v>
                </c:pt>
                <c:pt idx="14">
                  <c:v>0.77749999999999997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BE4-4C51-83D9-C9E9CD4C44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  <c:pt idx="5">
                  <c:v>E6</c:v>
                </c:pt>
                <c:pt idx="6">
                  <c:v>E7</c:v>
                </c:pt>
                <c:pt idx="7">
                  <c:v>E8</c:v>
                </c:pt>
                <c:pt idx="8">
                  <c:v>E9</c:v>
                </c:pt>
                <c:pt idx="9">
                  <c:v>E10</c:v>
                </c:pt>
                <c:pt idx="10">
                  <c:v>E11</c:v>
                </c:pt>
                <c:pt idx="11">
                  <c:v>E12</c:v>
                </c:pt>
                <c:pt idx="12">
                  <c:v>E13</c:v>
                </c:pt>
                <c:pt idx="13">
                  <c:v>E14</c:v>
                </c:pt>
                <c:pt idx="14">
                  <c:v>E15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0.50700000000000001</c:v>
                </c:pt>
                <c:pt idx="1">
                  <c:v>0.54430000000000001</c:v>
                </c:pt>
                <c:pt idx="2">
                  <c:v>0.57340000000000002</c:v>
                </c:pt>
                <c:pt idx="3">
                  <c:v>0.6321</c:v>
                </c:pt>
                <c:pt idx="4">
                  <c:v>0.69169999999999998</c:v>
                </c:pt>
                <c:pt idx="5">
                  <c:v>0.72740000000000005</c:v>
                </c:pt>
                <c:pt idx="6">
                  <c:v>0.74519999999999997</c:v>
                </c:pt>
                <c:pt idx="7">
                  <c:v>0.76580000000000004</c:v>
                </c:pt>
                <c:pt idx="8">
                  <c:v>0.77710000000000001</c:v>
                </c:pt>
                <c:pt idx="9">
                  <c:v>0.77370000000000005</c:v>
                </c:pt>
                <c:pt idx="10">
                  <c:v>0.78539999999999999</c:v>
                </c:pt>
                <c:pt idx="11">
                  <c:v>0.7853</c:v>
                </c:pt>
                <c:pt idx="12">
                  <c:v>0.7903</c:v>
                </c:pt>
                <c:pt idx="13">
                  <c:v>0.78600000000000003</c:v>
                </c:pt>
                <c:pt idx="14">
                  <c:v>0.78320000000000001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BE4-4C51-83D9-C9E9CD4C44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703556096"/>
        <c:axId val="1703556640"/>
      </c:lineChart>
      <c:catAx>
        <c:axId val="1703556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703556640"/>
        <c:crosses val="autoZero"/>
        <c:auto val="1"/>
        <c:lblAlgn val="ctr"/>
        <c:lblOffset val="100"/>
        <c:noMultiLvlLbl val="1"/>
      </c:catAx>
      <c:valAx>
        <c:axId val="1703556640"/>
        <c:scaling>
          <c:orientation val="minMax"/>
          <c:max val="0.85"/>
          <c:min val="0.3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fr-FR"/>
          </a:p>
        </c:txPr>
        <c:crossAx val="1703556096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t"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2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fr-FR"/>
        </a:p>
      </c:txPr>
    </c:legend>
    <c:plotVisOnly val="1"/>
    <c:dispBlanksAs val="span"/>
    <c:showDLblsOverMax val="1"/>
  </c:chart>
  <c:spPr>
    <a:solidFill>
      <a:schemeClr val="lt1"/>
    </a:solidFill>
    <a:ln>
      <a:noFill/>
    </a:ln>
    <a:effectLst/>
  </c:spPr>
  <c:txPr>
    <a:bodyPr/>
    <a:lstStyle/>
    <a:p>
      <a:pPr>
        <a:defRPr sz="2000"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CBB09C-CE5B-4F3F-906F-29276C02A2FE}" authorId="{F1DD3F3C-2658-07F1-1CB6-B9C733309A1C}" created="2026-06-27T14:44:16.0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47" creationId="{06F98480-B783-0713-4BE6-3C4202359F62}"/>
      <ac:txMk cp="0" len="152">
        <ac:context len="153" hash="3271130985"/>
      </ac:txMk>
    </ac:txMkLst>
    <p188:txBody>
      <a:bodyPr/>
      <a:lstStyle/>
      <a:p>
        <a:r>
          <a:rPr lang="fr-FR"/>
          <a:t>Remplacez le RNN classique pour capturer les dépendances à long terme et le contexte bidirectionnel pour plus de précision dans les erreurs sémantiques.</a:t>
        </a:r>
      </a:p>
    </p188:txBody>
  </p188:cm>
  <p188:cm id="{7D274D1B-535F-47B1-A766-CCF14A32AADB}" authorId="{F1DD3F3C-2658-07F1-1CB6-B9C733309A1C}" created="2026-06-27T14:44:31.167">
    <pc:sldMkLst xmlns:pc="http://schemas.microsoft.com/office/powerpoint/2013/main/command">
      <pc:docMk/>
      <pc:sldMk cId="0" sldId="256"/>
    </pc:sldMkLst>
    <p188:txBody>
      <a:bodyPr/>
      <a:lstStyle/>
      <a:p>
        <a:r>
          <a:rPr lang="fr-FR"/>
          <a:t>Architectures basées sur l'attention pour une compréhension sémantique plus riche du code VHDL. (Transformer Encoder)</a:t>
        </a:r>
      </a:p>
    </p188:txBody>
  </p188:cm>
  <p188:cm id="{66C59BB0-0394-49DC-9E53-E164624BC946}" authorId="{F1DD3F3C-2658-07F1-1CB6-B9C733309A1C}" created="2026-06-27T14:44:40.685">
    <pc:sldMkLst xmlns:pc="http://schemas.microsoft.com/office/powerpoint/2013/main/command">
      <pc:docMk/>
      <pc:sldMk cId="0" sldId="256"/>
    </pc:sldMkLst>
    <p188:txBody>
      <a:bodyPr/>
      <a:lstStyle/>
      <a:p>
        <a:r>
          <a:rPr lang="fr-FR"/>
          <a:t>Des patterns d'anomalies plus diversifiés et des classes équilibrées afin de réduire le risque de surapprentissage.</a:t>
        </a:r>
      </a:p>
    </p188:txBody>
  </p188:cm>
  <p188:cm id="{D6F86786-629F-4221-8744-084C313B235E}" authorId="{F1DD3F3C-2658-07F1-1CB6-B9C733309A1C}" created="2026-06-27T14:44:50.508">
    <pc:sldMkLst xmlns:pc="http://schemas.microsoft.com/office/powerpoint/2013/main/command">
      <pc:docMk/>
      <pc:sldMk cId="0" sldId="256"/>
    </pc:sldMkLst>
    <p188:txBody>
      <a:bodyPr/>
      <a:lstStyle/>
      <a:p>
        <a:r>
          <a:rPr lang="fr-FR"/>
          <a:t>Diminuer le taux de faux positifs sur le code normal en calibrant le seuil sigmoïde.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017963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251450" y="0"/>
            <a:ext cx="4017963" cy="35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748088" y="876300"/>
            <a:ext cx="1774825" cy="2365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27100" y="3373438"/>
            <a:ext cx="7416800" cy="2760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659563"/>
            <a:ext cx="4017963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251450" y="6659563"/>
            <a:ext cx="4017963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48088" y="876300"/>
            <a:ext cx="1774825" cy="2365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27100" y="3373438"/>
            <a:ext cx="7416800" cy="2760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sldNum" idx="12"/>
          </p:nvPr>
        </p:nvSpPr>
        <p:spPr>
          <a:xfrm>
            <a:off x="5251450" y="6659563"/>
            <a:ext cx="4017963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1645921" y="1757684"/>
            <a:ext cx="29626558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1645921" y="10241286"/>
            <a:ext cx="29626558" cy="28966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2600328" y="28204164"/>
            <a:ext cx="27980642" cy="871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0"/>
              <a:buFont typeface="Calibri"/>
              <a:buNone/>
              <a:defRPr sz="144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2600328" y="18602970"/>
            <a:ext cx="27980642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rmAutofit/>
          </a:bodyPr>
          <a:lstStyle>
            <a:lvl1pPr marL="457200" lvl="0" indent="-228600" algn="l">
              <a:spcBef>
                <a:spcPts val="1455"/>
              </a:spcBef>
              <a:spcAft>
                <a:spcPts val="0"/>
              </a:spcAft>
              <a:buClr>
                <a:srgbClr val="888888"/>
              </a:buClr>
              <a:buSzPts val="7275"/>
              <a:buNone/>
              <a:defRPr sz="7275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305"/>
              </a:spcBef>
              <a:spcAft>
                <a:spcPts val="0"/>
              </a:spcAft>
              <a:buClr>
                <a:srgbClr val="888888"/>
              </a:buClr>
              <a:buSzPts val="6525"/>
              <a:buNone/>
              <a:defRPr sz="6525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55"/>
              </a:spcBef>
              <a:spcAft>
                <a:spcPts val="0"/>
              </a:spcAft>
              <a:buClr>
                <a:srgbClr val="888888"/>
              </a:buClr>
              <a:buSzPts val="5775"/>
              <a:buNone/>
              <a:defRPr sz="5775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5"/>
              </a:spcBef>
              <a:spcAft>
                <a:spcPts val="0"/>
              </a:spcAft>
              <a:buClr>
                <a:srgbClr val="888888"/>
              </a:buClr>
              <a:buSzPts val="5025"/>
              <a:buNone/>
              <a:defRPr sz="5025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5"/>
              </a:spcBef>
              <a:spcAft>
                <a:spcPts val="0"/>
              </a:spcAft>
              <a:buClr>
                <a:srgbClr val="888888"/>
              </a:buClr>
              <a:buSzPts val="5025"/>
              <a:buNone/>
              <a:defRPr sz="5025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5"/>
              </a:spcBef>
              <a:spcAft>
                <a:spcPts val="0"/>
              </a:spcAft>
              <a:buClr>
                <a:srgbClr val="888888"/>
              </a:buClr>
              <a:buSzPts val="5025"/>
              <a:buNone/>
              <a:defRPr sz="5025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5"/>
              </a:spcBef>
              <a:spcAft>
                <a:spcPts val="0"/>
              </a:spcAft>
              <a:buClr>
                <a:srgbClr val="888888"/>
              </a:buClr>
              <a:buSzPts val="5025"/>
              <a:buNone/>
              <a:defRPr sz="5025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5"/>
              </a:spcBef>
              <a:spcAft>
                <a:spcPts val="0"/>
              </a:spcAft>
              <a:buClr>
                <a:srgbClr val="888888"/>
              </a:buClr>
              <a:buSzPts val="5025"/>
              <a:buNone/>
              <a:defRPr sz="5025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5"/>
              </a:spcBef>
              <a:spcAft>
                <a:spcPts val="0"/>
              </a:spcAft>
              <a:buClr>
                <a:srgbClr val="888888"/>
              </a:buClr>
              <a:buSzPts val="5025"/>
              <a:buNone/>
              <a:defRPr sz="5025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1645921" y="1757684"/>
            <a:ext cx="29626558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5926458" y="32776167"/>
            <a:ext cx="53052346" cy="9268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866775" algn="l">
              <a:spcBef>
                <a:spcPts val="2010"/>
              </a:spcBef>
              <a:spcAft>
                <a:spcPts val="0"/>
              </a:spcAft>
              <a:buClr>
                <a:schemeClr val="dk1"/>
              </a:buClr>
              <a:buSzPts val="10050"/>
              <a:buChar char="•"/>
              <a:defRPr sz="10050"/>
            </a:lvl1pPr>
            <a:lvl2pPr marL="914400" lvl="1" indent="-776288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Char char="–"/>
              <a:defRPr sz="8625"/>
            </a:lvl2pPr>
            <a:lvl3pPr marL="1371600" lvl="2" indent="-690563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Char char="•"/>
              <a:defRPr sz="7275"/>
            </a:lvl3pPr>
            <a:lvl4pPr marL="1828800" lvl="3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–"/>
              <a:defRPr sz="6525"/>
            </a:lvl4pPr>
            <a:lvl5pPr marL="2286000" lvl="4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»"/>
              <a:defRPr sz="6525"/>
            </a:lvl5pPr>
            <a:lvl6pPr marL="2743200" lvl="5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•"/>
              <a:defRPr sz="6525"/>
            </a:lvl6pPr>
            <a:lvl7pPr marL="3200400" lvl="6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•"/>
              <a:defRPr sz="6525"/>
            </a:lvl7pPr>
            <a:lvl8pPr marL="3657600" lvl="7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•"/>
              <a:defRPr sz="6525"/>
            </a:lvl8pPr>
            <a:lvl9pPr marL="4114800" lvl="8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•"/>
              <a:defRPr sz="6525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2"/>
          </p:nvPr>
        </p:nvSpPr>
        <p:spPr>
          <a:xfrm>
            <a:off x="59527442" y="32776167"/>
            <a:ext cx="53052346" cy="9268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866775" algn="l">
              <a:spcBef>
                <a:spcPts val="2010"/>
              </a:spcBef>
              <a:spcAft>
                <a:spcPts val="0"/>
              </a:spcAft>
              <a:buClr>
                <a:schemeClr val="dk1"/>
              </a:buClr>
              <a:buSzPts val="10050"/>
              <a:buChar char="•"/>
              <a:defRPr sz="10050"/>
            </a:lvl1pPr>
            <a:lvl2pPr marL="914400" lvl="1" indent="-776288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Char char="–"/>
              <a:defRPr sz="8625"/>
            </a:lvl2pPr>
            <a:lvl3pPr marL="1371600" lvl="2" indent="-690563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Char char="•"/>
              <a:defRPr sz="7275"/>
            </a:lvl3pPr>
            <a:lvl4pPr marL="1828800" lvl="3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–"/>
              <a:defRPr sz="6525"/>
            </a:lvl4pPr>
            <a:lvl5pPr marL="2286000" lvl="4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»"/>
              <a:defRPr sz="6525"/>
            </a:lvl5pPr>
            <a:lvl6pPr marL="2743200" lvl="5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•"/>
              <a:defRPr sz="6525"/>
            </a:lvl6pPr>
            <a:lvl7pPr marL="3200400" lvl="6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•"/>
              <a:defRPr sz="6525"/>
            </a:lvl7pPr>
            <a:lvl8pPr marL="3657600" lvl="7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•"/>
              <a:defRPr sz="6525"/>
            </a:lvl8pPr>
            <a:lvl9pPr marL="4114800" lvl="8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•"/>
              <a:defRPr sz="6525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1645921" y="1757684"/>
            <a:ext cx="29626558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2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1645922" y="9824727"/>
            <a:ext cx="14544677" cy="409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rmAutofit/>
          </a:bodyPr>
          <a:lstStyle>
            <a:lvl1pPr marL="457200" lvl="0" indent="-228600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None/>
              <a:defRPr sz="8625" b="1"/>
            </a:lvl1pPr>
            <a:lvl2pPr marL="914400" lvl="1" indent="-228600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None/>
              <a:defRPr sz="7275" b="1"/>
            </a:lvl2pPr>
            <a:lvl3pPr marL="1371600" lvl="2" indent="-228600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None/>
              <a:defRPr sz="6525" b="1"/>
            </a:lvl3pPr>
            <a:lvl4pPr marL="1828800" lvl="3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4pPr>
            <a:lvl5pPr marL="2286000" lvl="4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5pPr>
            <a:lvl6pPr marL="2743200" lvl="5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6pPr>
            <a:lvl7pPr marL="3200400" lvl="6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7pPr>
            <a:lvl8pPr marL="3657600" lvl="7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8pPr>
            <a:lvl9pPr marL="4114800" lvl="8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1645922" y="13919203"/>
            <a:ext cx="14544677" cy="25288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776288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Char char="•"/>
              <a:defRPr sz="8625"/>
            </a:lvl1pPr>
            <a:lvl2pPr marL="914400" lvl="1" indent="-690563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Char char="–"/>
              <a:defRPr sz="7275"/>
            </a:lvl2pPr>
            <a:lvl3pPr marL="1371600" lvl="2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•"/>
              <a:defRPr sz="6525"/>
            </a:lvl3pPr>
            <a:lvl4pPr marL="1828800" lvl="3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–"/>
              <a:defRPr sz="5775"/>
            </a:lvl4pPr>
            <a:lvl5pPr marL="2286000" lvl="4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»"/>
              <a:defRPr sz="5775"/>
            </a:lvl5pPr>
            <a:lvl6pPr marL="2743200" lvl="5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•"/>
              <a:defRPr sz="5775"/>
            </a:lvl6pPr>
            <a:lvl7pPr marL="3200400" lvl="6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•"/>
              <a:defRPr sz="5775"/>
            </a:lvl7pPr>
            <a:lvl8pPr marL="3657600" lvl="7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•"/>
              <a:defRPr sz="5775"/>
            </a:lvl8pPr>
            <a:lvl9pPr marL="4114800" lvl="8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•"/>
              <a:defRPr sz="5775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3"/>
          </p:nvPr>
        </p:nvSpPr>
        <p:spPr>
          <a:xfrm>
            <a:off x="16722092" y="9824727"/>
            <a:ext cx="14550389" cy="409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rmAutofit/>
          </a:bodyPr>
          <a:lstStyle>
            <a:lvl1pPr marL="457200" lvl="0" indent="-228600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None/>
              <a:defRPr sz="8625" b="1"/>
            </a:lvl1pPr>
            <a:lvl2pPr marL="914400" lvl="1" indent="-228600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None/>
              <a:defRPr sz="7275" b="1"/>
            </a:lvl2pPr>
            <a:lvl3pPr marL="1371600" lvl="2" indent="-228600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None/>
              <a:defRPr sz="6525" b="1"/>
            </a:lvl3pPr>
            <a:lvl4pPr marL="1828800" lvl="3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4pPr>
            <a:lvl5pPr marL="2286000" lvl="4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5pPr>
            <a:lvl6pPr marL="2743200" lvl="5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6pPr>
            <a:lvl7pPr marL="3200400" lvl="6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7pPr>
            <a:lvl8pPr marL="3657600" lvl="7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8pPr>
            <a:lvl9pPr marL="4114800" lvl="8" indent="-228600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None/>
              <a:defRPr sz="5775" b="1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4"/>
          </p:nvPr>
        </p:nvSpPr>
        <p:spPr>
          <a:xfrm>
            <a:off x="16722092" y="13919203"/>
            <a:ext cx="14550389" cy="25288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776288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Char char="•"/>
              <a:defRPr sz="8625"/>
            </a:lvl1pPr>
            <a:lvl2pPr marL="914400" lvl="1" indent="-690563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Char char="–"/>
              <a:defRPr sz="7275"/>
            </a:lvl2pPr>
            <a:lvl3pPr marL="1371600" lvl="2" indent="-642938" algn="l"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6525"/>
              <a:buChar char="•"/>
              <a:defRPr sz="6525"/>
            </a:lvl3pPr>
            <a:lvl4pPr marL="1828800" lvl="3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–"/>
              <a:defRPr sz="5775"/>
            </a:lvl4pPr>
            <a:lvl5pPr marL="2286000" lvl="4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»"/>
              <a:defRPr sz="5775"/>
            </a:lvl5pPr>
            <a:lvl6pPr marL="2743200" lvl="5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•"/>
              <a:defRPr sz="5775"/>
            </a:lvl6pPr>
            <a:lvl7pPr marL="3200400" lvl="6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•"/>
              <a:defRPr sz="5775"/>
            </a:lvl7pPr>
            <a:lvl8pPr marL="3657600" lvl="7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•"/>
              <a:defRPr sz="5775"/>
            </a:lvl8pPr>
            <a:lvl9pPr marL="4114800" lvl="8" indent="-595313" algn="l"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5775"/>
              <a:buChar char="•"/>
              <a:defRPr sz="5775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1645921" y="1757684"/>
            <a:ext cx="29626558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645924" y="1747520"/>
            <a:ext cx="10829927" cy="743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75"/>
              <a:buFont typeface="Calibri"/>
              <a:buNone/>
              <a:defRPr sz="7275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12870179" y="1747524"/>
            <a:ext cx="18402300" cy="37459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962025" algn="l">
              <a:spcBef>
                <a:spcPts val="2310"/>
              </a:spcBef>
              <a:spcAft>
                <a:spcPts val="0"/>
              </a:spcAft>
              <a:buClr>
                <a:schemeClr val="dk1"/>
              </a:buClr>
              <a:buSzPts val="11550"/>
              <a:buChar char="•"/>
              <a:defRPr sz="11550"/>
            </a:lvl1pPr>
            <a:lvl2pPr marL="914400" lvl="1" indent="-866775" algn="l">
              <a:spcBef>
                <a:spcPts val="2010"/>
              </a:spcBef>
              <a:spcAft>
                <a:spcPts val="0"/>
              </a:spcAft>
              <a:buClr>
                <a:schemeClr val="dk1"/>
              </a:buClr>
              <a:buSzPts val="10050"/>
              <a:buChar char="–"/>
              <a:defRPr sz="10050"/>
            </a:lvl2pPr>
            <a:lvl3pPr marL="1371600" lvl="2" indent="-776288" algn="l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Char char="•"/>
              <a:defRPr sz="8625"/>
            </a:lvl3pPr>
            <a:lvl4pPr marL="1828800" lvl="3" indent="-690563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Char char="–"/>
              <a:defRPr sz="7275"/>
            </a:lvl4pPr>
            <a:lvl5pPr marL="2286000" lvl="4" indent="-690563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Char char="»"/>
              <a:defRPr sz="7275"/>
            </a:lvl5pPr>
            <a:lvl6pPr marL="2743200" lvl="5" indent="-690563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Char char="•"/>
              <a:defRPr sz="7275"/>
            </a:lvl6pPr>
            <a:lvl7pPr marL="3200400" lvl="6" indent="-690563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Char char="•"/>
              <a:defRPr sz="7275"/>
            </a:lvl7pPr>
            <a:lvl8pPr marL="3657600" lvl="7" indent="-690563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Char char="•"/>
              <a:defRPr sz="7275"/>
            </a:lvl8pPr>
            <a:lvl9pPr marL="4114800" lvl="8" indent="-690563" algn="l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Char char="•"/>
              <a:defRPr sz="7275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1645924" y="9184645"/>
            <a:ext cx="10829927" cy="30022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228600" algn="l"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5025"/>
              <a:buNone/>
              <a:defRPr sz="5025"/>
            </a:lvl1pPr>
            <a:lvl2pPr marL="914400" lvl="1" indent="-228600" algn="l"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4275"/>
              <a:buNone/>
              <a:defRPr sz="4275"/>
            </a:lvl2pPr>
            <a:lvl3pPr marL="1371600" lvl="2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4pPr>
            <a:lvl5pPr marL="2286000" lvl="4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5pPr>
            <a:lvl6pPr marL="2743200" lvl="5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6pPr>
            <a:lvl7pPr marL="3200400" lvl="6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7pPr>
            <a:lvl8pPr marL="3657600" lvl="7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8pPr>
            <a:lvl9pPr marL="4114800" lvl="8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6452238" y="30723842"/>
            <a:ext cx="19751041" cy="3627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75"/>
              <a:buFont typeface="Calibri"/>
              <a:buNone/>
              <a:defRPr sz="7275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6452238" y="3921761"/>
            <a:ext cx="19751041" cy="2633471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6452238" y="34350967"/>
            <a:ext cx="19751041" cy="5151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228600" algn="l">
              <a:spcBef>
                <a:spcPts val="1005"/>
              </a:spcBef>
              <a:spcAft>
                <a:spcPts val="0"/>
              </a:spcAft>
              <a:buClr>
                <a:schemeClr val="dk1"/>
              </a:buClr>
              <a:buSzPts val="5025"/>
              <a:buNone/>
              <a:defRPr sz="5025"/>
            </a:lvl1pPr>
            <a:lvl2pPr marL="914400" lvl="1" indent="-228600" algn="l"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4275"/>
              <a:buNone/>
              <a:defRPr sz="4275"/>
            </a:lvl2pPr>
            <a:lvl3pPr marL="1371600" lvl="2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4pPr>
            <a:lvl5pPr marL="2286000" lvl="4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5pPr>
            <a:lvl6pPr marL="2743200" lvl="5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6pPr>
            <a:lvl7pPr marL="3200400" lvl="6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7pPr>
            <a:lvl8pPr marL="3657600" lvl="7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8pPr>
            <a:lvl9pPr marL="4114800" lvl="8" indent="-228600" algn="l"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3225"/>
              <a:buNone/>
              <a:defRPr sz="3225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1645921" y="1757684"/>
            <a:ext cx="29626558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1976118" y="9911089"/>
            <a:ext cx="28966164" cy="2962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39330953" y="52217006"/>
            <a:ext cx="119837200" cy="26660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-14270034" y="25825139"/>
            <a:ext cx="119837200" cy="7944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645921" y="1757684"/>
            <a:ext cx="29626558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25"/>
              <a:buFont typeface="Calibri"/>
              <a:buNone/>
              <a:defRPr sz="158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645921" y="10241286"/>
            <a:ext cx="29626558" cy="28966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t" anchorCtr="0">
            <a:normAutofit/>
          </a:bodyPr>
          <a:lstStyle>
            <a:lvl1pPr marL="457200" marR="0" lvl="0" indent="-962025" algn="l" rtl="0">
              <a:spcBef>
                <a:spcPts val="2310"/>
              </a:spcBef>
              <a:spcAft>
                <a:spcPts val="0"/>
              </a:spcAft>
              <a:buClr>
                <a:schemeClr val="dk1"/>
              </a:buClr>
              <a:buSzPts val="11550"/>
              <a:buFont typeface="Arial"/>
              <a:buChar char="•"/>
              <a:defRPr sz="115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866775" algn="l" rtl="0">
              <a:spcBef>
                <a:spcPts val="2010"/>
              </a:spcBef>
              <a:spcAft>
                <a:spcPts val="0"/>
              </a:spcAft>
              <a:buClr>
                <a:schemeClr val="dk1"/>
              </a:buClr>
              <a:buSzPts val="10050"/>
              <a:buFont typeface="Arial"/>
              <a:buChar char="–"/>
              <a:defRPr sz="10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776288" algn="l" rtl="0">
              <a:spcBef>
                <a:spcPts val="1725"/>
              </a:spcBef>
              <a:spcAft>
                <a:spcPts val="0"/>
              </a:spcAft>
              <a:buClr>
                <a:schemeClr val="dk1"/>
              </a:buClr>
              <a:buSzPts val="8625"/>
              <a:buFont typeface="Arial"/>
              <a:buChar char="•"/>
              <a:defRPr sz="86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90563" algn="l" rtl="0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Font typeface="Arial"/>
              <a:buChar char="–"/>
              <a:defRPr sz="7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90563" algn="l" rtl="0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Font typeface="Arial"/>
              <a:buChar char="»"/>
              <a:defRPr sz="7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90563" algn="l" rtl="0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Font typeface="Arial"/>
              <a:buChar char="•"/>
              <a:defRPr sz="7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90563" algn="l" rtl="0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Font typeface="Arial"/>
              <a:buChar char="•"/>
              <a:defRPr sz="7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90563" algn="l" rtl="0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Font typeface="Arial"/>
              <a:buChar char="•"/>
              <a:defRPr sz="7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90563" algn="l" rtl="0">
              <a:spcBef>
                <a:spcPts val="1455"/>
              </a:spcBef>
              <a:spcAft>
                <a:spcPts val="0"/>
              </a:spcAft>
              <a:buClr>
                <a:schemeClr val="dk1"/>
              </a:buClr>
              <a:buSzPts val="7275"/>
              <a:buFont typeface="Arial"/>
              <a:buChar char="•"/>
              <a:defRPr sz="72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645920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1247121" y="40680642"/>
            <a:ext cx="104241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3591521" y="40680642"/>
            <a:ext cx="7680960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219450" rIns="438900" bIns="2194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2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5400000">
            <a:off x="-11074400" y="219456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5400000">
            <a:off x="29718000" y="219456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460500" y="44399200"/>
            <a:ext cx="299974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1460500" y="44970700"/>
            <a:ext cx="164592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60" b="0" i="0" u="none" strike="noStrike" cap="non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Template ID: deliberatingwatermelon  Size: 36x48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3" Type="http://schemas.microsoft.com/office/2018/10/relationships/comments" Target="../comments/modernComment_100_0.xml"/><Relationship Id="rId12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4.jpg"/><Relationship Id="rId5" Type="http://schemas.openxmlformats.org/officeDocument/2006/relationships/image" Target="../media/image3.jpg"/><Relationship Id="rId1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28">
            <a:extLst>
              <a:ext uri="{FF2B5EF4-FFF2-40B4-BE49-F238E27FC236}">
                <a16:creationId xmlns:a16="http://schemas.microsoft.com/office/drawing/2014/main" id="{B2CC2791-B9B5-D7AD-6035-7BAA968A10F3}"/>
              </a:ext>
            </a:extLst>
          </p:cNvPr>
          <p:cNvSpPr/>
          <p:nvPr/>
        </p:nvSpPr>
        <p:spPr>
          <a:xfrm>
            <a:off x="11162568" y="37293343"/>
            <a:ext cx="21028499" cy="1282908"/>
          </a:xfrm>
          <a:prstGeom prst="rect">
            <a:avLst/>
          </a:prstGeom>
          <a:solidFill>
            <a:srgbClr val="023E8A"/>
          </a:solidFill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EBBFD29-EDAE-AE21-2301-6D1B63FABE87}"/>
              </a:ext>
            </a:extLst>
          </p:cNvPr>
          <p:cNvSpPr/>
          <p:nvPr/>
        </p:nvSpPr>
        <p:spPr>
          <a:xfrm>
            <a:off x="21895715" y="5541908"/>
            <a:ext cx="10284905" cy="1282908"/>
          </a:xfrm>
          <a:prstGeom prst="rect">
            <a:avLst/>
          </a:prstGeom>
          <a:solidFill>
            <a:srgbClr val="023E8A"/>
          </a:solidFill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D1BE798-AEAA-150E-D217-A19F88B0BC45}"/>
              </a:ext>
            </a:extLst>
          </p:cNvPr>
          <p:cNvSpPr/>
          <p:nvPr/>
        </p:nvSpPr>
        <p:spPr>
          <a:xfrm>
            <a:off x="469100" y="20756224"/>
            <a:ext cx="10284905" cy="1282908"/>
          </a:xfrm>
          <a:prstGeom prst="rect">
            <a:avLst/>
          </a:prstGeom>
          <a:solidFill>
            <a:srgbClr val="023E8A"/>
          </a:solidFill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BFABBA5-3563-3659-0C9F-F7599FD1F9B9}"/>
              </a:ext>
            </a:extLst>
          </p:cNvPr>
          <p:cNvSpPr/>
          <p:nvPr/>
        </p:nvSpPr>
        <p:spPr>
          <a:xfrm>
            <a:off x="434688" y="5529739"/>
            <a:ext cx="10284905" cy="1282908"/>
          </a:xfrm>
          <a:prstGeom prst="rect">
            <a:avLst/>
          </a:prstGeom>
          <a:solidFill>
            <a:srgbClr val="023E8A"/>
          </a:solidFill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AF399A5-8DC3-C87C-58D7-29CE0EC00054}"/>
              </a:ext>
            </a:extLst>
          </p:cNvPr>
          <p:cNvSpPr/>
          <p:nvPr/>
        </p:nvSpPr>
        <p:spPr>
          <a:xfrm>
            <a:off x="11124468" y="5536993"/>
            <a:ext cx="10284905" cy="1282908"/>
          </a:xfrm>
          <a:prstGeom prst="rect">
            <a:avLst/>
          </a:prstGeom>
          <a:solidFill>
            <a:srgbClr val="023E8A"/>
          </a:solidFill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Google Shape;88;p13"/>
          <p:cNvSpPr txBox="1"/>
          <p:nvPr/>
        </p:nvSpPr>
        <p:spPr>
          <a:xfrm>
            <a:off x="2743200" y="804648"/>
            <a:ext cx="27432000" cy="220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62B"/>
              </a:buClr>
              <a:buSzPts val="6400"/>
              <a:buFont typeface="Nunito"/>
              <a:buNone/>
            </a:pPr>
            <a:r>
              <a:rPr lang="fr-FR" sz="6400" b="1" i="0" u="none" strike="noStrike" cap="none" dirty="0">
                <a:solidFill>
                  <a:srgbClr val="023E8A"/>
                </a:solidFill>
                <a:latin typeface="Nunito"/>
                <a:ea typeface="Nunito"/>
                <a:cs typeface="Nunito"/>
                <a:sym typeface="Nunito"/>
              </a:rPr>
              <a:t>Détection d’Anomalies du code VHDL </a:t>
            </a:r>
            <a:endParaRPr dirty="0">
              <a:solidFill>
                <a:srgbClr val="023E8A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rgbClr val="23362B"/>
              </a:buClr>
              <a:buSzPts val="6400"/>
              <a:buFont typeface="Nunito"/>
              <a:buNone/>
            </a:pPr>
            <a:r>
              <a:rPr lang="fr-FR" sz="6400" b="1" i="0" u="none" strike="noStrike" cap="none" dirty="0">
                <a:solidFill>
                  <a:srgbClr val="023E8A"/>
                </a:solidFill>
                <a:latin typeface="Nunito"/>
                <a:ea typeface="Nunito"/>
                <a:cs typeface="Nunito"/>
                <a:sym typeface="Nunito"/>
              </a:rPr>
              <a:t>par Réseau de Neurones Récurrent (RNN)</a:t>
            </a:r>
            <a:endParaRPr dirty="0">
              <a:solidFill>
                <a:srgbClr val="023E8A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743200" y="3205796"/>
            <a:ext cx="27432000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798E"/>
              </a:buClr>
              <a:buSzPts val="4200"/>
              <a:buFont typeface="Arial"/>
              <a:buNone/>
            </a:pPr>
            <a:r>
              <a:rPr lang="fr-FR" sz="4200" b="1" i="0" u="none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Réalisé par</a:t>
            </a:r>
            <a:r>
              <a:rPr lang="fr-FR" sz="4200" b="0" i="0" u="none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</a:t>
            </a:r>
            <a:r>
              <a:rPr lang="fr-FR" sz="4200" b="0" i="0" u="sng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BOUDADE Ilyass</a:t>
            </a:r>
            <a:r>
              <a:rPr lang="fr-FR" sz="4200" b="0" i="0" u="none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– </a:t>
            </a:r>
            <a:r>
              <a:rPr lang="fr-FR" sz="4200" b="0" i="0" u="sng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ATIK Zakaria</a:t>
            </a:r>
            <a:r>
              <a:rPr lang="fr-FR" sz="4200" b="0" i="0" u="none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– </a:t>
            </a:r>
            <a:r>
              <a:rPr lang="fr-FR" sz="4200" b="0" i="0" u="sng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DOUIBA Youssef</a:t>
            </a:r>
            <a:endParaRPr dirty="0">
              <a:solidFill>
                <a:srgbClr val="03045E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50798E"/>
              </a:buClr>
              <a:buSzPts val="4200"/>
              <a:buFont typeface="Arial"/>
              <a:buNone/>
            </a:pPr>
            <a:r>
              <a:rPr lang="fr-FR" sz="4200" b="1" i="0" u="none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Encadré par</a:t>
            </a:r>
            <a:r>
              <a:rPr lang="fr-FR" sz="4200" b="0" i="0" u="none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</a:t>
            </a:r>
            <a:r>
              <a:rPr lang="fr-FR" sz="4200" b="0" i="0" u="sng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Pr. HANNOUI Salma</a:t>
            </a:r>
            <a:r>
              <a:rPr lang="fr-FR" sz="4200" b="0" i="0" u="none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 – </a:t>
            </a:r>
            <a:r>
              <a:rPr lang="fr-FR" sz="4200" b="0" i="0" u="sng" strike="noStrike" cap="none" dirty="0">
                <a:solidFill>
                  <a:srgbClr val="03045E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Pr. BEN LAHMAR El Habib</a:t>
            </a:r>
            <a:endParaRPr dirty="0">
              <a:solidFill>
                <a:srgbClr val="03045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EC5ACB-E21D-E513-EC56-40DC446010E3}"/>
              </a:ext>
            </a:extLst>
          </p:cNvPr>
          <p:cNvSpPr/>
          <p:nvPr/>
        </p:nvSpPr>
        <p:spPr>
          <a:xfrm>
            <a:off x="11134915" y="7089099"/>
            <a:ext cx="10284905" cy="1890069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Google Shape;97;p13">
            <a:extLst>
              <a:ext uri="{FF2B5EF4-FFF2-40B4-BE49-F238E27FC236}">
                <a16:creationId xmlns:a16="http://schemas.microsoft.com/office/drawing/2014/main" id="{DD8BCFE6-C246-B1DB-0C99-1365302F1072}"/>
              </a:ext>
            </a:extLst>
          </p:cNvPr>
          <p:cNvSpPr txBox="1"/>
          <p:nvPr/>
        </p:nvSpPr>
        <p:spPr>
          <a:xfrm>
            <a:off x="710490" y="5632643"/>
            <a:ext cx="970187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400" b="1" i="0" u="sng" strike="noStrike" cap="none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Introduction / Contexte</a:t>
            </a:r>
            <a:endParaRPr dirty="0"/>
          </a:p>
        </p:txBody>
      </p:sp>
      <p:sp>
        <p:nvSpPr>
          <p:cNvPr id="19" name="Google Shape;98;p13">
            <a:extLst>
              <a:ext uri="{FF2B5EF4-FFF2-40B4-BE49-F238E27FC236}">
                <a16:creationId xmlns:a16="http://schemas.microsoft.com/office/drawing/2014/main" id="{B6A0E590-0108-12B9-9387-B70192D054FD}"/>
              </a:ext>
            </a:extLst>
          </p:cNvPr>
          <p:cNvSpPr txBox="1"/>
          <p:nvPr/>
        </p:nvSpPr>
        <p:spPr>
          <a:xfrm>
            <a:off x="710490" y="7248425"/>
            <a:ext cx="9701871" cy="720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4200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description matérielle des circuits intégrés avec le langage VHDL nécessite une vérification rigoureuse. Cependant, les compilateurs traditionnels échouent à détecter les erreurs sémantiques qui altèrent le fonctionnement des architectures. Ce projet vise à dépasser ces limites en exploitant un réseau de neurones récurrent (RNN) pour identifier automatiquement les comportements structurels défaillants.</a:t>
            </a:r>
            <a:endParaRPr lang="fr-FR" sz="4200" b="0" i="0" u="none" strike="noStrike" cap="none" dirty="0">
              <a:solidFill>
                <a:srgbClr val="023E8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1" name="Google Shape;107;p13">
            <a:extLst>
              <a:ext uri="{FF2B5EF4-FFF2-40B4-BE49-F238E27FC236}">
                <a16:creationId xmlns:a16="http://schemas.microsoft.com/office/drawing/2014/main" id="{0A0810AF-A8A5-D449-C6E9-EBFB0763DABF}"/>
              </a:ext>
            </a:extLst>
          </p:cNvPr>
          <p:cNvSpPr txBox="1"/>
          <p:nvPr/>
        </p:nvSpPr>
        <p:spPr>
          <a:xfrm>
            <a:off x="11460481" y="5649502"/>
            <a:ext cx="953262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400" b="1" u="sng" dirty="0">
                <a:solidFill>
                  <a:schemeClr val="lt1"/>
                </a:solidFill>
                <a:latin typeface="Nunito"/>
                <a:sym typeface="Nunito"/>
              </a:rPr>
              <a:t>Méthodologie</a:t>
            </a:r>
            <a:endParaRPr dirty="0"/>
          </a:p>
        </p:txBody>
      </p:sp>
      <p:sp>
        <p:nvSpPr>
          <p:cNvPr id="23" name="Google Shape;108;p13">
            <a:extLst>
              <a:ext uri="{FF2B5EF4-FFF2-40B4-BE49-F238E27FC236}">
                <a16:creationId xmlns:a16="http://schemas.microsoft.com/office/drawing/2014/main" id="{4B3B56EE-8041-E50F-84B1-A4DB47B43E02}"/>
              </a:ext>
            </a:extLst>
          </p:cNvPr>
          <p:cNvSpPr txBox="1"/>
          <p:nvPr/>
        </p:nvSpPr>
        <p:spPr>
          <a:xfrm>
            <a:off x="11097808" y="7191446"/>
            <a:ext cx="10360112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 b="1" strike="noStrike" cap="none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Pipeline du prétraitement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 b="1" strike="noStrike" cap="none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des données</a:t>
            </a:r>
          </a:p>
        </p:txBody>
      </p:sp>
      <p:sp>
        <p:nvSpPr>
          <p:cNvPr id="25" name="Google Shape;99;p13">
            <a:extLst>
              <a:ext uri="{FF2B5EF4-FFF2-40B4-BE49-F238E27FC236}">
                <a16:creationId xmlns:a16="http://schemas.microsoft.com/office/drawing/2014/main" id="{0BF75998-487A-DAE6-C077-CFFF967ED540}"/>
              </a:ext>
            </a:extLst>
          </p:cNvPr>
          <p:cNvSpPr txBox="1"/>
          <p:nvPr/>
        </p:nvSpPr>
        <p:spPr>
          <a:xfrm>
            <a:off x="22178085" y="5651067"/>
            <a:ext cx="9823665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400" b="1" i="0" u="sng" strike="noStrike" cap="none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Résultats</a:t>
            </a:r>
            <a:endParaRPr sz="6400" b="1" i="0" u="sng" strike="noStrike" cap="none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" name="Google Shape;109;p13">
            <a:extLst>
              <a:ext uri="{FF2B5EF4-FFF2-40B4-BE49-F238E27FC236}">
                <a16:creationId xmlns:a16="http://schemas.microsoft.com/office/drawing/2014/main" id="{E85D04D7-35D1-77E1-731A-88C52F2B9959}"/>
              </a:ext>
            </a:extLst>
          </p:cNvPr>
          <p:cNvSpPr txBox="1"/>
          <p:nvPr/>
        </p:nvSpPr>
        <p:spPr>
          <a:xfrm>
            <a:off x="691218" y="20882691"/>
            <a:ext cx="9724595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400" b="1" i="0" u="sng" strike="noStrike" cap="none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Architecture</a:t>
            </a:r>
            <a:endParaRPr sz="6400" b="1" i="0" u="sng" strike="noStrike" cap="none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" name="Google Shape;101;p13">
            <a:extLst>
              <a:ext uri="{FF2B5EF4-FFF2-40B4-BE49-F238E27FC236}">
                <a16:creationId xmlns:a16="http://schemas.microsoft.com/office/drawing/2014/main" id="{07ADD6A9-A2EE-9F3C-B601-0D46F679B2FB}"/>
              </a:ext>
            </a:extLst>
          </p:cNvPr>
          <p:cNvSpPr txBox="1"/>
          <p:nvPr/>
        </p:nvSpPr>
        <p:spPr>
          <a:xfrm>
            <a:off x="11318918" y="37442572"/>
            <a:ext cx="20765214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400" b="1" i="0" u="sng" strike="noStrike" cap="none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Conclusion et Perspectives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5" name="Google Shape;102;p13">
            <a:extLst>
              <a:ext uri="{FF2B5EF4-FFF2-40B4-BE49-F238E27FC236}">
                <a16:creationId xmlns:a16="http://schemas.microsoft.com/office/drawing/2014/main" id="{C3B8B1F5-F089-2F3C-82CE-B403E0A7355B}"/>
              </a:ext>
            </a:extLst>
          </p:cNvPr>
          <p:cNvSpPr txBox="1"/>
          <p:nvPr/>
        </p:nvSpPr>
        <p:spPr>
          <a:xfrm>
            <a:off x="11365907" y="38988729"/>
            <a:ext cx="2071822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200" b="0" i="0" u="none" strike="noStrike" cap="none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Nous pouvons conclure que les modèles séquentiels peuvent apprendre les structures VHDL et identifier les anomalies sémantiques du code VHDL avec une bonne précision.</a:t>
            </a:r>
          </a:p>
          <a:p>
            <a:pPr lvl="0"/>
            <a:r>
              <a:rPr lang="fr-FR" sz="42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Axes d’amélioration :</a:t>
            </a:r>
            <a:endParaRPr lang="fr-FR" sz="4200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0" lvl="0" indent="-571500">
              <a:buFontTx/>
              <a:buChar char="-"/>
            </a:pPr>
            <a:r>
              <a:rPr lang="fr-FR" sz="4200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Transition vers une architecture LSTM pour capturer les dépendances à long terme</a:t>
            </a:r>
          </a:p>
          <a:p>
            <a:pPr marL="571500" lvl="0" indent="-571500">
              <a:buFontTx/>
              <a:buChar char="-"/>
            </a:pPr>
            <a:r>
              <a:rPr lang="fr-FR" sz="4200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Implémenter un encodage basé sur le mécanisme d’attention (Transformer Encoder)</a:t>
            </a:r>
          </a:p>
          <a:p>
            <a:pPr marL="571500" lvl="0" indent="-571500">
              <a:buFontTx/>
              <a:buChar char="-"/>
            </a:pPr>
            <a:r>
              <a:rPr lang="fr-FR" sz="4200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Diminuer le taux de détection de faux positifs avec la classification Sigmoïde mieux calibrée.</a:t>
            </a:r>
            <a:endParaRPr lang="fr-FR" sz="4200" b="0" i="0" u="none" strike="noStrike" cap="none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20ABE1-5738-63DE-9D84-C2AA0A64B9A2}"/>
              </a:ext>
            </a:extLst>
          </p:cNvPr>
          <p:cNvSpPr/>
          <p:nvPr/>
        </p:nvSpPr>
        <p:spPr>
          <a:xfrm>
            <a:off x="447865" y="7108149"/>
            <a:ext cx="10284905" cy="7419312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5" name="Image 64">
            <a:extLst>
              <a:ext uri="{FF2B5EF4-FFF2-40B4-BE49-F238E27FC236}">
                <a16:creationId xmlns:a16="http://schemas.microsoft.com/office/drawing/2014/main" id="{ACA7025F-042C-B81F-8BE0-E45790E9BB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9741" y="22372051"/>
            <a:ext cx="10394379" cy="1019890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E563A1C1-5C1F-3FD2-5B66-611C9B63749B}"/>
              </a:ext>
            </a:extLst>
          </p:cNvPr>
          <p:cNvSpPr/>
          <p:nvPr/>
        </p:nvSpPr>
        <p:spPr>
          <a:xfrm>
            <a:off x="710490" y="33356550"/>
            <a:ext cx="832560" cy="74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270CB66-CBDD-12CF-E1B9-90DEADF8AFDA}"/>
              </a:ext>
            </a:extLst>
          </p:cNvPr>
          <p:cNvSpPr/>
          <p:nvPr/>
        </p:nvSpPr>
        <p:spPr>
          <a:xfrm>
            <a:off x="2520240" y="22631399"/>
            <a:ext cx="60141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FFEDC5BD-5ECE-6AE4-E1F6-92130D7701CD}"/>
              </a:ext>
            </a:extLst>
          </p:cNvPr>
          <p:cNvSpPr txBox="1"/>
          <p:nvPr/>
        </p:nvSpPr>
        <p:spPr>
          <a:xfrm>
            <a:off x="3116211" y="22575962"/>
            <a:ext cx="48085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rgbClr val="023E8A"/>
                </a:solidFill>
              </a:rPr>
              <a:t>Code VHDL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4020250-A161-A3EE-C950-FD05E35F8127}"/>
              </a:ext>
            </a:extLst>
          </p:cNvPr>
          <p:cNvSpPr/>
          <p:nvPr/>
        </p:nvSpPr>
        <p:spPr>
          <a:xfrm>
            <a:off x="2520240" y="24794495"/>
            <a:ext cx="60141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D1601215-FE89-5970-CE6D-655034B7D3A6}"/>
              </a:ext>
            </a:extLst>
          </p:cNvPr>
          <p:cNvSpPr txBox="1"/>
          <p:nvPr/>
        </p:nvSpPr>
        <p:spPr>
          <a:xfrm>
            <a:off x="2811410" y="24739058"/>
            <a:ext cx="54181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solidFill>
                  <a:srgbClr val="023E8A"/>
                </a:solidFill>
              </a:rPr>
              <a:t>Tokens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8552DAA-C22B-D4CB-5341-C7EF3F705B87}"/>
              </a:ext>
            </a:extLst>
          </p:cNvPr>
          <p:cNvSpPr/>
          <p:nvPr/>
        </p:nvSpPr>
        <p:spPr>
          <a:xfrm>
            <a:off x="8940090" y="22372051"/>
            <a:ext cx="1779503" cy="10339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8DDCD58-F5F0-D3AA-1DB6-8634BACC9A23}"/>
              </a:ext>
            </a:extLst>
          </p:cNvPr>
          <p:cNvSpPr/>
          <p:nvPr/>
        </p:nvSpPr>
        <p:spPr>
          <a:xfrm>
            <a:off x="2329740" y="26947068"/>
            <a:ext cx="63951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B6F2FA50-AF82-C447-B31E-E6770BA7F371}"/>
              </a:ext>
            </a:extLst>
          </p:cNvPr>
          <p:cNvSpPr txBox="1"/>
          <p:nvPr/>
        </p:nvSpPr>
        <p:spPr>
          <a:xfrm>
            <a:off x="2824110" y="26919362"/>
            <a:ext cx="54181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 err="1">
                <a:solidFill>
                  <a:srgbClr val="023E8A"/>
                </a:solidFill>
              </a:rPr>
              <a:t>Embeddings</a:t>
            </a:r>
            <a:endParaRPr lang="fr-FR" sz="6600" b="1" dirty="0">
              <a:solidFill>
                <a:srgbClr val="023E8A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1C009A7-E5E1-B96B-EC3E-E2E347DB679F}"/>
              </a:ext>
            </a:extLst>
          </p:cNvPr>
          <p:cNvSpPr/>
          <p:nvPr/>
        </p:nvSpPr>
        <p:spPr>
          <a:xfrm>
            <a:off x="2317040" y="29101972"/>
            <a:ext cx="63951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3E8936F7-9B57-C705-5185-7AD477B43B1D}"/>
              </a:ext>
            </a:extLst>
          </p:cNvPr>
          <p:cNvSpPr txBox="1"/>
          <p:nvPr/>
        </p:nvSpPr>
        <p:spPr>
          <a:xfrm>
            <a:off x="2582810" y="29074266"/>
            <a:ext cx="58678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rgbClr val="023E8A"/>
                </a:solidFill>
              </a:rPr>
              <a:t>Couches RNN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901B0C0-86A4-38D9-6FFE-3962C6837FDC}"/>
              </a:ext>
            </a:extLst>
          </p:cNvPr>
          <p:cNvSpPr/>
          <p:nvPr/>
        </p:nvSpPr>
        <p:spPr>
          <a:xfrm>
            <a:off x="2380540" y="31303168"/>
            <a:ext cx="61538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8BDCFEA3-5ED5-F8F0-4331-CE5282ACFACD}"/>
              </a:ext>
            </a:extLst>
          </p:cNvPr>
          <p:cNvSpPr txBox="1"/>
          <p:nvPr/>
        </p:nvSpPr>
        <p:spPr>
          <a:xfrm>
            <a:off x="3751211" y="31275462"/>
            <a:ext cx="35131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rgbClr val="023E8A"/>
                </a:solidFill>
              </a:rPr>
              <a:t>Résultat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259C70C-E71A-F891-2523-9E44D560FB72}"/>
              </a:ext>
            </a:extLst>
          </p:cNvPr>
          <p:cNvSpPr/>
          <p:nvPr/>
        </p:nvSpPr>
        <p:spPr>
          <a:xfrm>
            <a:off x="459070" y="22372051"/>
            <a:ext cx="1779503" cy="10198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8A0EB60-2E84-6D32-31EF-58DF7C06ACCF}"/>
              </a:ext>
            </a:extLst>
          </p:cNvPr>
          <p:cNvSpPr/>
          <p:nvPr/>
        </p:nvSpPr>
        <p:spPr>
          <a:xfrm>
            <a:off x="11173016" y="38864498"/>
            <a:ext cx="21018051" cy="4248921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2D02FCF-0704-422D-521B-38AA608DC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6745" y="9186410"/>
            <a:ext cx="10394379" cy="101989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A47FCF4-D07E-8026-924D-4A2003561191}"/>
              </a:ext>
            </a:extLst>
          </p:cNvPr>
          <p:cNvSpPr/>
          <p:nvPr/>
        </p:nvSpPr>
        <p:spPr>
          <a:xfrm>
            <a:off x="13187244" y="9445758"/>
            <a:ext cx="60141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CAEDC3C-3674-E2BA-743C-5CF47F41DEE3}"/>
              </a:ext>
            </a:extLst>
          </p:cNvPr>
          <p:cNvSpPr txBox="1"/>
          <p:nvPr/>
        </p:nvSpPr>
        <p:spPr>
          <a:xfrm>
            <a:off x="13783215" y="9466521"/>
            <a:ext cx="4808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 err="1">
                <a:solidFill>
                  <a:srgbClr val="023E8A"/>
                </a:solidFill>
              </a:rPr>
              <a:t>Dataset</a:t>
            </a:r>
            <a:r>
              <a:rPr lang="fr-FR" sz="5400" b="1" dirty="0">
                <a:solidFill>
                  <a:srgbClr val="023E8A"/>
                </a:solidFill>
              </a:rPr>
              <a:t> Initial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F44916-B1BA-7F9F-3A59-6AAE0D4148A4}"/>
              </a:ext>
            </a:extLst>
          </p:cNvPr>
          <p:cNvSpPr/>
          <p:nvPr/>
        </p:nvSpPr>
        <p:spPr>
          <a:xfrm>
            <a:off x="13187244" y="11608854"/>
            <a:ext cx="60141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E333BC-0F1B-BA7D-6EBC-2E4FED340327}"/>
              </a:ext>
            </a:extLst>
          </p:cNvPr>
          <p:cNvSpPr txBox="1"/>
          <p:nvPr/>
        </p:nvSpPr>
        <p:spPr>
          <a:xfrm>
            <a:off x="13478414" y="11629617"/>
            <a:ext cx="5418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023E8A"/>
                </a:solidFill>
              </a:rPr>
              <a:t>Nettoyage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8F9EFB-21A8-BFC7-7098-9BC25DA65598}"/>
              </a:ext>
            </a:extLst>
          </p:cNvPr>
          <p:cNvSpPr/>
          <p:nvPr/>
        </p:nvSpPr>
        <p:spPr>
          <a:xfrm>
            <a:off x="19607094" y="9186410"/>
            <a:ext cx="1779503" cy="12226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585652-9D65-C82D-4AB7-EE1EEBD7664B}"/>
              </a:ext>
            </a:extLst>
          </p:cNvPr>
          <p:cNvSpPr/>
          <p:nvPr/>
        </p:nvSpPr>
        <p:spPr>
          <a:xfrm>
            <a:off x="12996744" y="13761427"/>
            <a:ext cx="63951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14613FD-4434-F358-2739-EEA6951C8662}"/>
              </a:ext>
            </a:extLst>
          </p:cNvPr>
          <p:cNvSpPr txBox="1"/>
          <p:nvPr/>
        </p:nvSpPr>
        <p:spPr>
          <a:xfrm>
            <a:off x="13491114" y="13809921"/>
            <a:ext cx="5418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023E8A"/>
                </a:solidFill>
              </a:rPr>
              <a:t>Mutations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AE01DF-0174-33E9-B0C7-04ABA2F35634}"/>
              </a:ext>
            </a:extLst>
          </p:cNvPr>
          <p:cNvSpPr/>
          <p:nvPr/>
        </p:nvSpPr>
        <p:spPr>
          <a:xfrm>
            <a:off x="12984044" y="15916331"/>
            <a:ext cx="63951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EDC2301-A1E5-D53E-088B-88F52330F2FA}"/>
              </a:ext>
            </a:extLst>
          </p:cNvPr>
          <p:cNvSpPr txBox="1"/>
          <p:nvPr/>
        </p:nvSpPr>
        <p:spPr>
          <a:xfrm>
            <a:off x="13249814" y="15983875"/>
            <a:ext cx="5867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023E8A"/>
                </a:solidFill>
              </a:rPr>
              <a:t>Tokenisation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F4CA51-F422-67FA-525F-49A8AFB7B267}"/>
              </a:ext>
            </a:extLst>
          </p:cNvPr>
          <p:cNvSpPr/>
          <p:nvPr/>
        </p:nvSpPr>
        <p:spPr>
          <a:xfrm>
            <a:off x="13047544" y="18117527"/>
            <a:ext cx="61538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9" name="Image 68">
            <a:extLst>
              <a:ext uri="{FF2B5EF4-FFF2-40B4-BE49-F238E27FC236}">
                <a16:creationId xmlns:a16="http://schemas.microsoft.com/office/drawing/2014/main" id="{7E4C961D-0845-43A6-9AF2-1EE3B5ED99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3" t="4963" r="545" b="4867"/>
          <a:stretch>
            <a:fillRect/>
          </a:stretch>
        </p:blipFill>
        <p:spPr>
          <a:xfrm>
            <a:off x="11174126" y="23972145"/>
            <a:ext cx="10283794" cy="5708096"/>
          </a:xfrm>
          <a:prstGeom prst="rect">
            <a:avLst/>
          </a:prstGeom>
        </p:spPr>
      </p:pic>
      <p:sp>
        <p:nvSpPr>
          <p:cNvPr id="70" name="ZoneTexte 69">
            <a:extLst>
              <a:ext uri="{FF2B5EF4-FFF2-40B4-BE49-F238E27FC236}">
                <a16:creationId xmlns:a16="http://schemas.microsoft.com/office/drawing/2014/main" id="{2019808B-C2BC-2AA0-D83E-B8584BE34388}"/>
              </a:ext>
            </a:extLst>
          </p:cNvPr>
          <p:cNvSpPr txBox="1"/>
          <p:nvPr/>
        </p:nvSpPr>
        <p:spPr>
          <a:xfrm>
            <a:off x="11994419" y="26278422"/>
            <a:ext cx="13863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solidFill>
                  <a:srgbClr val="023E8A"/>
                </a:solidFill>
              </a:rPr>
              <a:t>0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BF32657F-0C8C-BAAF-7E58-E2FA96374485}"/>
              </a:ext>
            </a:extLst>
          </p:cNvPr>
          <p:cNvSpPr txBox="1"/>
          <p:nvPr/>
        </p:nvSpPr>
        <p:spPr>
          <a:xfrm>
            <a:off x="13922797" y="28209446"/>
            <a:ext cx="13863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52AA798E-2CC0-05C5-D526-33D002A56FA4}"/>
              </a:ext>
            </a:extLst>
          </p:cNvPr>
          <p:cNvSpPr txBox="1"/>
          <p:nvPr/>
        </p:nvSpPr>
        <p:spPr>
          <a:xfrm>
            <a:off x="15869888" y="28229766"/>
            <a:ext cx="13863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solidFill>
                  <a:srgbClr val="023E8A"/>
                </a:solidFill>
              </a:rPr>
              <a:t>2</a:t>
            </a:r>
            <a:endParaRPr lang="fr-FR" sz="6600" b="1" dirty="0">
              <a:solidFill>
                <a:schemeClr val="bg1"/>
              </a:solidFill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056ACF13-9527-9696-9D82-AFDAB8235704}"/>
              </a:ext>
            </a:extLst>
          </p:cNvPr>
          <p:cNvSpPr txBox="1"/>
          <p:nvPr/>
        </p:nvSpPr>
        <p:spPr>
          <a:xfrm>
            <a:off x="17795570" y="28312862"/>
            <a:ext cx="13863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01A848A6-F4D4-B03F-8D1F-7CA24DD371FF}"/>
              </a:ext>
            </a:extLst>
          </p:cNvPr>
          <p:cNvSpPr txBox="1"/>
          <p:nvPr/>
        </p:nvSpPr>
        <p:spPr>
          <a:xfrm>
            <a:off x="19710730" y="28221419"/>
            <a:ext cx="13863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solidFill>
                  <a:srgbClr val="023E8A"/>
                </a:solidFill>
              </a:rPr>
              <a:t>4</a:t>
            </a:r>
            <a:endParaRPr lang="fr-FR" sz="6600" b="1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A825129-C73D-2A9D-8BFD-B27EADCC996E}"/>
              </a:ext>
            </a:extLst>
          </p:cNvPr>
          <p:cNvSpPr/>
          <p:nvPr/>
        </p:nvSpPr>
        <p:spPr>
          <a:xfrm>
            <a:off x="11134915" y="30326412"/>
            <a:ext cx="10284905" cy="6500038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Google Shape;100;p13">
            <a:extLst>
              <a:ext uri="{FF2B5EF4-FFF2-40B4-BE49-F238E27FC236}">
                <a16:creationId xmlns:a16="http://schemas.microsoft.com/office/drawing/2014/main" id="{62286BD5-61A6-99FE-01CF-0EE3261B280F}"/>
              </a:ext>
            </a:extLst>
          </p:cNvPr>
          <p:cNvSpPr txBox="1"/>
          <p:nvPr/>
        </p:nvSpPr>
        <p:spPr>
          <a:xfrm>
            <a:off x="11397248" y="30418452"/>
            <a:ext cx="9823665" cy="637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4800" b="1" i="0" u="none" strike="noStrike" cap="none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0. Code sain </a:t>
            </a:r>
            <a:r>
              <a:rPr lang="fr-FR" sz="4400" i="1" u="sng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(4307 extraits)</a:t>
            </a:r>
            <a:endParaRPr lang="fr-FR" sz="4400" b="1" i="0" u="none" strike="noStrike" cap="none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fr-FR" sz="48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1. Dead Code Injection </a:t>
            </a:r>
            <a:r>
              <a:rPr lang="fr-FR" sz="4400" i="1" u="sng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(1154 extraits)</a:t>
            </a:r>
            <a:br>
              <a:rPr lang="fr-FR" sz="3600" i="1" u="sng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4200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Insertion du code inaccessible ou inutile.</a:t>
            </a:r>
            <a:endParaRPr lang="fr-FR" sz="4200" i="1" u="sng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fr-FR" sz="48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2. Structural Havoc </a:t>
            </a:r>
            <a:r>
              <a:rPr lang="fr-FR" sz="4400" i="1" u="sng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(1079 extraits)</a:t>
            </a:r>
          </a:p>
          <a:p>
            <a:pPr lvl="0"/>
            <a:r>
              <a:rPr lang="fr-FR" sz="4200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Destruction de la structure de la syntaxe.</a:t>
            </a:r>
            <a:endParaRPr lang="fr-FR" sz="4200" b="1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fr-FR" sz="48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3. Scramble Architecture </a:t>
            </a:r>
            <a:r>
              <a:rPr lang="fr-FR" sz="4400" i="1" u="sng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(947 extraits)</a:t>
            </a:r>
            <a:endParaRPr lang="fr-FR" sz="4400" b="1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fr-FR" sz="4200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Permutation des blocs logiques.</a:t>
            </a:r>
            <a:endParaRPr lang="fr-FR" sz="4200" b="1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fr-FR" sz="48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fr-FR" sz="4800" b="1" dirty="0" err="1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r>
              <a:rPr lang="fr-FR" sz="48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 Corruption </a:t>
            </a:r>
            <a:r>
              <a:rPr lang="fr-FR" sz="4400" i="1" u="sng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(1126 extraits)</a:t>
            </a:r>
            <a:endParaRPr lang="fr-FR" sz="4400" b="1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fr-FR" sz="4200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Altération des mots-clés du code VHDL.</a:t>
            </a:r>
            <a:endParaRPr lang="fr-FR" sz="4200" b="1" i="0" u="none" strike="noStrike" cap="none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985B815-77DB-DF18-08F9-2968F6159056}"/>
              </a:ext>
            </a:extLst>
          </p:cNvPr>
          <p:cNvSpPr/>
          <p:nvPr/>
        </p:nvSpPr>
        <p:spPr>
          <a:xfrm>
            <a:off x="11173015" y="21719499"/>
            <a:ext cx="10284905" cy="1890069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Google Shape;108;p13">
            <a:extLst>
              <a:ext uri="{FF2B5EF4-FFF2-40B4-BE49-F238E27FC236}">
                <a16:creationId xmlns:a16="http://schemas.microsoft.com/office/drawing/2014/main" id="{686422A6-6AE4-6807-4156-5886AD63E77C}"/>
              </a:ext>
            </a:extLst>
          </p:cNvPr>
          <p:cNvSpPr txBox="1"/>
          <p:nvPr/>
        </p:nvSpPr>
        <p:spPr>
          <a:xfrm>
            <a:off x="11212886" y="21789608"/>
            <a:ext cx="1024503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Distribution des données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fr-FR" sz="5400" b="1" strike="noStrike" cap="none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t des mutations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C377BC-476D-6C5D-4EEA-3D31D4FFE1DF}"/>
              </a:ext>
            </a:extLst>
          </p:cNvPr>
          <p:cNvSpPr/>
          <p:nvPr/>
        </p:nvSpPr>
        <p:spPr>
          <a:xfrm>
            <a:off x="470595" y="32859455"/>
            <a:ext cx="10284905" cy="1890069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Google Shape;108;p13">
            <a:extLst>
              <a:ext uri="{FF2B5EF4-FFF2-40B4-BE49-F238E27FC236}">
                <a16:creationId xmlns:a16="http://schemas.microsoft.com/office/drawing/2014/main" id="{3BC75A09-4838-13FB-171F-5D227ABA29FD}"/>
              </a:ext>
            </a:extLst>
          </p:cNvPr>
          <p:cNvSpPr txBox="1"/>
          <p:nvPr/>
        </p:nvSpPr>
        <p:spPr>
          <a:xfrm>
            <a:off x="510466" y="32929564"/>
            <a:ext cx="1024503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Configuration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et Hyperparamètres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6" name="Tableau 65">
                <a:extLst>
                  <a:ext uri="{FF2B5EF4-FFF2-40B4-BE49-F238E27FC236}">
                    <a16:creationId xmlns:a16="http://schemas.microsoft.com/office/drawing/2014/main" id="{A2A74F5F-4C33-7449-EB78-0B6A1C216D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7984981"/>
                  </p:ext>
                </p:extLst>
              </p:nvPr>
            </p:nvGraphicFramePr>
            <p:xfrm>
              <a:off x="500465" y="35110835"/>
              <a:ext cx="10219128" cy="800258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109564">
                      <a:extLst>
                        <a:ext uri="{9D8B030D-6E8A-4147-A177-3AD203B41FA5}">
                          <a16:colId xmlns:a16="http://schemas.microsoft.com/office/drawing/2014/main" val="945121779"/>
                        </a:ext>
                      </a:extLst>
                    </a:gridCol>
                    <a:gridCol w="5109564">
                      <a:extLst>
                        <a:ext uri="{9D8B030D-6E8A-4147-A177-3AD203B41FA5}">
                          <a16:colId xmlns:a16="http://schemas.microsoft.com/office/drawing/2014/main" val="733156399"/>
                        </a:ext>
                      </a:extLst>
                    </a:gridCol>
                  </a:tblGrid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Modèle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Recurrent Neural Network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09373935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Technologies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28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Pandas, NumPy (Implémentation Matricielle du Modèle)</a:t>
                          </a:r>
                          <a:endParaRPr lang="fr-FR" sz="3600" dirty="0">
                            <a:solidFill>
                              <a:srgbClr val="023E8A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68996437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Longueur de séquence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512 Tokens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4703537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Embedding Dimensions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39854288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Taille de l’état cachée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128 Neurones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9636180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Optimiseur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Adam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6436390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Taux d’apprentissage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fr-FR" sz="3600" i="0" dirty="0" smtClean="0">
                                    <a:solidFill>
                                      <a:srgbClr val="023E8A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3×</m:t>
                                </m:r>
                                <m:sSup>
                                  <m:sSupPr>
                                    <m:ctrlPr>
                                      <a:rPr lang="fr-FR" sz="3600" i="0" dirty="0" smtClean="0">
                                        <a:solidFill>
                                          <a:srgbClr val="023E8A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3600" i="0" dirty="0" smtClean="0">
                                        <a:solidFill>
                                          <a:srgbClr val="023E8A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fr-FR" sz="3600" i="0" dirty="0" smtClean="0">
                                        <a:solidFill>
                                          <a:srgbClr val="023E8A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3600" i="0" dirty="0">
                            <a:solidFill>
                              <a:srgbClr val="023E8A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42772407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Gradient Clipping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5.0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831252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6" name="Tableau 65">
                <a:extLst>
                  <a:ext uri="{FF2B5EF4-FFF2-40B4-BE49-F238E27FC236}">
                    <a16:creationId xmlns:a16="http://schemas.microsoft.com/office/drawing/2014/main" id="{A2A74F5F-4C33-7449-EB78-0B6A1C216D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7984981"/>
                  </p:ext>
                </p:extLst>
              </p:nvPr>
            </p:nvGraphicFramePr>
            <p:xfrm>
              <a:off x="500465" y="35110835"/>
              <a:ext cx="10219128" cy="8002584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109564">
                      <a:extLst>
                        <a:ext uri="{9D8B030D-6E8A-4147-A177-3AD203B41FA5}">
                          <a16:colId xmlns:a16="http://schemas.microsoft.com/office/drawing/2014/main" val="945121779"/>
                        </a:ext>
                      </a:extLst>
                    </a:gridCol>
                    <a:gridCol w="5109564">
                      <a:extLst>
                        <a:ext uri="{9D8B030D-6E8A-4147-A177-3AD203B41FA5}">
                          <a16:colId xmlns:a16="http://schemas.microsoft.com/office/drawing/2014/main" val="733156399"/>
                        </a:ext>
                      </a:extLst>
                    </a:gridCol>
                  </a:tblGrid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Modèle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Recurrent Neural Network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09373935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Technologies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28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Pandas, NumPy (Implémentation Matricielle du Modèle)</a:t>
                          </a:r>
                          <a:endParaRPr lang="fr-FR" sz="3600" dirty="0">
                            <a:solidFill>
                              <a:srgbClr val="023E8A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68996437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Longueur de séquence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512 Tokens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4703537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Embedding Dimensions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39854288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Taille de l’état cachée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128 Neurones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9636180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Optimiseur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Adam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6436390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Taux d’apprentissage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00239" t="-601829" r="-239" b="-1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2772407"/>
                      </a:ext>
                    </a:extLst>
                  </a:tr>
                  <a:tr h="100032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b="1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Gradient Clipping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3600" dirty="0">
                              <a:solidFill>
                                <a:srgbClr val="023E8A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5.0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8312528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5" name="Image 74">
            <a:extLst>
              <a:ext uri="{FF2B5EF4-FFF2-40B4-BE49-F238E27FC236}">
                <a16:creationId xmlns:a16="http://schemas.microsoft.com/office/drawing/2014/main" id="{D70AE926-10D9-64BF-313C-68C0F6B42F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473"/>
          <a:stretch>
            <a:fillRect/>
          </a:stretch>
        </p:blipFill>
        <p:spPr>
          <a:xfrm>
            <a:off x="11148911" y="19314984"/>
            <a:ext cx="10394379" cy="2195511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4EAE45C-7D2B-8A5C-07E5-D62B45076FF8}"/>
              </a:ext>
            </a:extLst>
          </p:cNvPr>
          <p:cNvSpPr/>
          <p:nvPr/>
        </p:nvSpPr>
        <p:spPr>
          <a:xfrm>
            <a:off x="11123494" y="9186410"/>
            <a:ext cx="1779503" cy="12226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9EE07B6-DF0B-99D8-2CF7-9D7471017D73}"/>
              </a:ext>
            </a:extLst>
          </p:cNvPr>
          <p:cNvSpPr/>
          <p:nvPr/>
        </p:nvSpPr>
        <p:spPr>
          <a:xfrm>
            <a:off x="13081956" y="20216719"/>
            <a:ext cx="6153860" cy="1042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E6080A19-8402-14EB-810E-B9B6CDC9C30E}"/>
              </a:ext>
            </a:extLst>
          </p:cNvPr>
          <p:cNvSpPr txBox="1"/>
          <p:nvPr/>
        </p:nvSpPr>
        <p:spPr>
          <a:xfrm>
            <a:off x="13254729" y="18142059"/>
            <a:ext cx="5867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solidFill>
                  <a:srgbClr val="023E8A"/>
                </a:solidFill>
              </a:rPr>
              <a:t>Vocabulaire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F62A864D-7237-D823-51B4-07A8080BBEEA}"/>
              </a:ext>
            </a:extLst>
          </p:cNvPr>
          <p:cNvSpPr txBox="1"/>
          <p:nvPr/>
        </p:nvSpPr>
        <p:spPr>
          <a:xfrm>
            <a:off x="13230147" y="20270746"/>
            <a:ext cx="5867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 err="1">
                <a:solidFill>
                  <a:srgbClr val="023E8A"/>
                </a:solidFill>
              </a:rPr>
              <a:t>Dataset</a:t>
            </a:r>
            <a:r>
              <a:rPr lang="fr-FR" sz="5400" b="1" dirty="0">
                <a:solidFill>
                  <a:srgbClr val="023E8A"/>
                </a:solidFill>
              </a:rPr>
              <a:t> Équilibré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06E32E9E-D422-5801-6555-C6CBB3E3F0E7}"/>
              </a:ext>
            </a:extLst>
          </p:cNvPr>
          <p:cNvSpPr/>
          <p:nvPr/>
        </p:nvSpPr>
        <p:spPr>
          <a:xfrm>
            <a:off x="21891815" y="7089099"/>
            <a:ext cx="10284905" cy="1890069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9" name="Google Shape;108;p13">
            <a:extLst>
              <a:ext uri="{FF2B5EF4-FFF2-40B4-BE49-F238E27FC236}">
                <a16:creationId xmlns:a16="http://schemas.microsoft.com/office/drawing/2014/main" id="{B258112E-8D4D-6A40-02B8-01ACB6441CA3}"/>
              </a:ext>
            </a:extLst>
          </p:cNvPr>
          <p:cNvSpPr txBox="1"/>
          <p:nvPr/>
        </p:nvSpPr>
        <p:spPr>
          <a:xfrm>
            <a:off x="21854708" y="7166046"/>
            <a:ext cx="10360112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 b="1" strike="noStrike" cap="none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Évaluation des métriques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obtenus</a:t>
            </a:r>
            <a:endParaRPr lang="fr-FR" sz="5400" b="1" strike="noStrike" cap="none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78D3AF4F-F013-A63A-8DCA-3A2CB265606C}"/>
              </a:ext>
            </a:extLst>
          </p:cNvPr>
          <p:cNvSpPr/>
          <p:nvPr/>
        </p:nvSpPr>
        <p:spPr>
          <a:xfrm>
            <a:off x="21910865" y="9184599"/>
            <a:ext cx="10284905" cy="1890069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Text 136">
            <a:extLst>
              <a:ext uri="{FF2B5EF4-FFF2-40B4-BE49-F238E27FC236}">
                <a16:creationId xmlns:a16="http://schemas.microsoft.com/office/drawing/2014/main" id="{04394333-D371-8D0A-82E9-88AAF1919E64}"/>
              </a:ext>
            </a:extLst>
          </p:cNvPr>
          <p:cNvSpPr/>
          <p:nvPr/>
        </p:nvSpPr>
        <p:spPr>
          <a:xfrm>
            <a:off x="22148589" y="9249861"/>
            <a:ext cx="9823664" cy="171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78%</a:t>
            </a:r>
          </a:p>
          <a:p>
            <a:pPr marL="0" indent="0" algn="ctr">
              <a:buNone/>
            </a:pPr>
            <a:r>
              <a:rPr lang="en-US" sz="4200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– Ensemble du test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A6335F3D-F8ED-A587-4DFA-390DF6493476}"/>
              </a:ext>
            </a:extLst>
          </p:cNvPr>
          <p:cNvSpPr/>
          <p:nvPr/>
        </p:nvSpPr>
        <p:spPr>
          <a:xfrm>
            <a:off x="21918125" y="11310942"/>
            <a:ext cx="10284905" cy="3492675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0" name="Text 136">
            <a:extLst>
              <a:ext uri="{FF2B5EF4-FFF2-40B4-BE49-F238E27FC236}">
                <a16:creationId xmlns:a16="http://schemas.microsoft.com/office/drawing/2014/main" id="{A4F5EA66-FA28-2495-2FE2-C2028B8FFD24}"/>
              </a:ext>
            </a:extLst>
          </p:cNvPr>
          <p:cNvSpPr/>
          <p:nvPr/>
        </p:nvSpPr>
        <p:spPr>
          <a:xfrm>
            <a:off x="22155849" y="11376203"/>
            <a:ext cx="9823664" cy="335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21%</a:t>
            </a:r>
          </a:p>
          <a:p>
            <a:pPr marL="0" indent="0" algn="ctr">
              <a:buNone/>
            </a:pPr>
            <a:r>
              <a:rPr lang="en-US" sz="4200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Probabilité de détecter un faux positif</a:t>
            </a:r>
          </a:p>
          <a:p>
            <a:pPr marL="0" indent="0" algn="ctr">
              <a:buNone/>
            </a:pPr>
            <a:r>
              <a:rPr lang="en-US" sz="4200" b="1" u="sng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</a:t>
            </a:r>
            <a:r>
              <a:rPr lang="en-US" sz="4200" b="1" u="sng" dirty="0" err="1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modèle</a:t>
            </a:r>
            <a:r>
              <a:rPr lang="en-US" sz="4200" b="1" u="sng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tend à </a:t>
            </a:r>
            <a:r>
              <a:rPr lang="en-US" sz="4200" b="1" u="sng" dirty="0" err="1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déclarer</a:t>
            </a:r>
            <a:r>
              <a:rPr lang="en-US" sz="4200" b="1" u="sng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 extraits </a:t>
            </a:r>
            <a:r>
              <a:rPr lang="en-US" sz="4200" b="1" u="sng" dirty="0" err="1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sains</a:t>
            </a:r>
            <a:r>
              <a:rPr lang="en-US" sz="4200" b="1" u="sng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200" b="1" u="sng" dirty="0" err="1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</a:t>
            </a:r>
            <a:r>
              <a:rPr lang="en-US" sz="4200" b="1" u="sng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 anomalies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11275A8E-3145-1A6A-26B2-6B7108237DCA}"/>
              </a:ext>
            </a:extLst>
          </p:cNvPr>
          <p:cNvSpPr/>
          <p:nvPr/>
        </p:nvSpPr>
        <p:spPr>
          <a:xfrm>
            <a:off x="21923040" y="15032451"/>
            <a:ext cx="10284905" cy="3758125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6" name="Text 136">
            <a:extLst>
              <a:ext uri="{FF2B5EF4-FFF2-40B4-BE49-F238E27FC236}">
                <a16:creationId xmlns:a16="http://schemas.microsoft.com/office/drawing/2014/main" id="{EDF09BAB-AC17-0620-BF43-FFF51C5D3AE0}"/>
              </a:ext>
            </a:extLst>
          </p:cNvPr>
          <p:cNvSpPr/>
          <p:nvPr/>
        </p:nvSpPr>
        <p:spPr>
          <a:xfrm>
            <a:off x="22160764" y="15212012"/>
            <a:ext cx="9823664" cy="335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55%</a:t>
            </a:r>
          </a:p>
          <a:p>
            <a:pPr marL="0" indent="0" algn="ctr">
              <a:buNone/>
            </a:pPr>
            <a:r>
              <a:rPr lang="en-US" sz="4200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Probabilité de détecter </a:t>
            </a:r>
            <a:r>
              <a:rPr lang="en-US" sz="4200" dirty="0" err="1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</a:t>
            </a:r>
            <a:r>
              <a:rPr lang="en-US" sz="4200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200" dirty="0" err="1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anomalie</a:t>
            </a:r>
            <a:r>
              <a:rPr lang="en-US" sz="4200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200" dirty="0" err="1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sémantique</a:t>
            </a:r>
            <a:endParaRPr lang="en-US" sz="4200" dirty="0">
              <a:solidFill>
                <a:srgbClr val="023E8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sz="4200" b="1" u="sng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Perte de mémoire sur les longues séquences</a:t>
            </a:r>
            <a:endParaRPr lang="en-US" sz="4200" b="1" u="sng" dirty="0">
              <a:solidFill>
                <a:srgbClr val="DC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0" name="Image 319">
            <a:extLst>
              <a:ext uri="{FF2B5EF4-FFF2-40B4-BE49-F238E27FC236}">
                <a16:creationId xmlns:a16="http://schemas.microsoft.com/office/drawing/2014/main" id="{D34A5EFE-F117-AC35-33F7-077B436EF0B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593" b="16704"/>
          <a:stretch>
            <a:fillRect/>
          </a:stretch>
        </p:blipFill>
        <p:spPr>
          <a:xfrm>
            <a:off x="444819" y="14867166"/>
            <a:ext cx="10316781" cy="5509248"/>
          </a:xfrm>
          <a:prstGeom prst="rect">
            <a:avLst/>
          </a:prstGeom>
        </p:spPr>
      </p:pic>
      <p:sp>
        <p:nvSpPr>
          <p:cNvPr id="321" name="Rectangle 320">
            <a:extLst>
              <a:ext uri="{FF2B5EF4-FFF2-40B4-BE49-F238E27FC236}">
                <a16:creationId xmlns:a16="http://schemas.microsoft.com/office/drawing/2014/main" id="{4B56B0D9-F1D3-5EBF-7B8C-7A3CB88E1136}"/>
              </a:ext>
            </a:extLst>
          </p:cNvPr>
          <p:cNvSpPr/>
          <p:nvPr/>
        </p:nvSpPr>
        <p:spPr>
          <a:xfrm>
            <a:off x="21919024" y="19034954"/>
            <a:ext cx="10284905" cy="3758125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2" name="Text 136">
            <a:extLst>
              <a:ext uri="{FF2B5EF4-FFF2-40B4-BE49-F238E27FC236}">
                <a16:creationId xmlns:a16="http://schemas.microsoft.com/office/drawing/2014/main" id="{9B2C42BE-7C6A-88EA-7F63-1984E716F182}"/>
              </a:ext>
            </a:extLst>
          </p:cNvPr>
          <p:cNvSpPr/>
          <p:nvPr/>
        </p:nvSpPr>
        <p:spPr>
          <a:xfrm>
            <a:off x="22156748" y="19214515"/>
            <a:ext cx="9823664" cy="335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80%</a:t>
            </a:r>
          </a:p>
          <a:p>
            <a:pPr marL="0" indent="0" algn="ctr">
              <a:buNone/>
            </a:pPr>
            <a:r>
              <a:rPr lang="en-US" sz="4200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Probabilité de détecter </a:t>
            </a:r>
            <a:r>
              <a:rPr lang="en-US" sz="4200" dirty="0" err="1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</a:t>
            </a:r>
            <a:r>
              <a:rPr lang="en-US" sz="4200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200" dirty="0" err="1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anomalie</a:t>
            </a:r>
            <a:r>
              <a:rPr lang="en-US" sz="4200" dirty="0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200" dirty="0" err="1">
                <a:solidFill>
                  <a:srgbClr val="023E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syntaxique</a:t>
            </a:r>
            <a:endParaRPr lang="en-US" sz="4200" dirty="0">
              <a:solidFill>
                <a:srgbClr val="023E8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fr-FR" sz="4200" b="1" u="sng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Détection fiable les fautes syntaxiques défaillantes</a:t>
            </a:r>
            <a:endParaRPr lang="en-US" sz="4200" b="1" u="sng" dirty="0">
              <a:solidFill>
                <a:srgbClr val="7C3AE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E03FE95-C5CB-120D-7FD8-78E306C291B2}"/>
              </a:ext>
            </a:extLst>
          </p:cNvPr>
          <p:cNvSpPr/>
          <p:nvPr/>
        </p:nvSpPr>
        <p:spPr>
          <a:xfrm>
            <a:off x="21929915" y="23091099"/>
            <a:ext cx="10284905" cy="1890069"/>
          </a:xfrm>
          <a:prstGeom prst="rect">
            <a:avLst/>
          </a:prstGeom>
          <a:noFill/>
          <a:ln>
            <a:solidFill>
              <a:srgbClr val="0304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4" name="Google Shape;108;p13">
            <a:extLst>
              <a:ext uri="{FF2B5EF4-FFF2-40B4-BE49-F238E27FC236}">
                <a16:creationId xmlns:a16="http://schemas.microsoft.com/office/drawing/2014/main" id="{448ACA48-640D-EAA3-45B3-51DAF15DD622}"/>
              </a:ext>
            </a:extLst>
          </p:cNvPr>
          <p:cNvSpPr txBox="1"/>
          <p:nvPr/>
        </p:nvSpPr>
        <p:spPr>
          <a:xfrm>
            <a:off x="21892808" y="23168046"/>
            <a:ext cx="10360112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400" b="1" dirty="0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Entraînement du modèle au cours de 15 </a:t>
            </a:r>
            <a:r>
              <a:rPr lang="fr-FR" sz="5400" b="1" dirty="0" err="1">
                <a:solidFill>
                  <a:srgbClr val="023E8A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endParaRPr lang="fr-FR" sz="5400" b="1" strike="noStrike" cap="none" dirty="0">
              <a:solidFill>
                <a:srgbClr val="023E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96BABF0-8238-1681-5A80-FA6A0A84981E}"/>
              </a:ext>
            </a:extLst>
          </p:cNvPr>
          <p:cNvSpPr/>
          <p:nvPr/>
        </p:nvSpPr>
        <p:spPr>
          <a:xfrm>
            <a:off x="30005951" y="25474216"/>
            <a:ext cx="2265681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329" name="Chart 0">
            <a:extLst>
              <a:ext uri="{FF2B5EF4-FFF2-40B4-BE49-F238E27FC236}">
                <a16:creationId xmlns:a16="http://schemas.microsoft.com/office/drawing/2014/main" id="{93F12660-4C6E-9863-BAEB-5B6546F88B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7393772"/>
              </p:ext>
            </p:extLst>
          </p:nvPr>
        </p:nvGraphicFramePr>
        <p:xfrm>
          <a:off x="21914634" y="25166644"/>
          <a:ext cx="10265986" cy="11622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pic>
        <p:nvPicPr>
          <p:cNvPr id="331" name="Google Shape;105;p13">
            <a:extLst>
              <a:ext uri="{FF2B5EF4-FFF2-40B4-BE49-F238E27FC236}">
                <a16:creationId xmlns:a16="http://schemas.microsoft.com/office/drawing/2014/main" id="{2513FB76-A54E-E04E-B5F7-3BE22D98B94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89623" y="363403"/>
            <a:ext cx="4028966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106;p13">
            <a:extLst>
              <a:ext uri="{FF2B5EF4-FFF2-40B4-BE49-F238E27FC236}">
                <a16:creationId xmlns:a16="http://schemas.microsoft.com/office/drawing/2014/main" id="{E5EFBBF5-249B-B321-4B37-7EA28C7AF8CE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9728231" y="394268"/>
            <a:ext cx="2561519" cy="256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Image 334">
            <a:extLst>
              <a:ext uri="{FF2B5EF4-FFF2-40B4-BE49-F238E27FC236}">
                <a16:creationId xmlns:a16="http://schemas.microsoft.com/office/drawing/2014/main" id="{1CF2B669-0EF3-BD8F-4F9D-138F6C15772F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334"/>
          <a:stretch>
            <a:fillRect/>
          </a:stretch>
        </p:blipFill>
        <p:spPr>
          <a:xfrm>
            <a:off x="29828760" y="3076739"/>
            <a:ext cx="2327560" cy="1708990"/>
          </a:xfrm>
          <a:prstGeom prst="rect">
            <a:avLst/>
          </a:prstGeom>
        </p:spPr>
      </p:pic>
      <p:pic>
        <p:nvPicPr>
          <p:cNvPr id="337" name="Image 336">
            <a:extLst>
              <a:ext uri="{FF2B5EF4-FFF2-40B4-BE49-F238E27FC236}">
                <a16:creationId xmlns:a16="http://schemas.microsoft.com/office/drawing/2014/main" id="{ADDBA716-0F44-92D5-E6FC-922C583D16D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12742" b="12742"/>
          <a:stretch/>
        </p:blipFill>
        <p:spPr>
          <a:xfrm>
            <a:off x="369666" y="2520391"/>
            <a:ext cx="3139758" cy="2339611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379</Words>
  <Application>Microsoft Office PowerPoint</Application>
  <PresentationFormat>Personnalisé</PresentationFormat>
  <Paragraphs>76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Calibri</vt:lpstr>
      <vt:lpstr>Nunito</vt:lpstr>
      <vt:lpstr>Cambria Math</vt:lpstr>
      <vt:lpstr>Comfortaa Light</vt:lpstr>
      <vt:lpstr>Arial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boudade</cp:lastModifiedBy>
  <cp:revision>14</cp:revision>
  <dcterms:modified xsi:type="dcterms:W3CDTF">2026-09-17T22:49:56Z</dcterms:modified>
</cp:coreProperties>
</file>